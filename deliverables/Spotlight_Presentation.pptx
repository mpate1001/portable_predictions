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BM Plex Sans"/>
      <p:regular r:id="rId15"/>
      <p:bold r:id="rId16"/>
      <p:italic r:id="rId17"/>
      <p:boldItalic r:id="rId18"/>
    </p:embeddedFont>
    <p:embeddedFont>
      <p:font typeface="Sora SemiBold"/>
      <p:regular r:id="rId19"/>
      <p:bold r:id="rId20"/>
    </p:embeddedFont>
    <p:embeddedFont>
      <p:font typeface="IBM Plex Sans Medium"/>
      <p:regular r:id="rId21"/>
      <p:bold r:id="rId22"/>
      <p:italic r:id="rId23"/>
      <p:boldItalic r:id="rId24"/>
    </p:embeddedFont>
    <p:embeddedFont>
      <p:font typeface="Sora Light"/>
      <p:regular r:id="rId25"/>
      <p:bold r:id="rId26"/>
    </p:embeddedFont>
    <p:embeddedFont>
      <p:font typeface="Sora ExtraLight"/>
      <p:regular r:id="rId27"/>
      <p:bold r:id="rId28"/>
    </p:embeddedFont>
    <p:embeddedFont>
      <p:font typeface="Sora"/>
      <p:regular r:id="rId29"/>
      <p:bold r:id="rId30"/>
    </p:embeddedFont>
    <p:embeddedFont>
      <p:font typeface="Sora Medium"/>
      <p:regular r:id="rId31"/>
      <p:bold r:id="rId32"/>
    </p:embeddedFont>
    <p:embeddedFont>
      <p:font typeface="IBM Plex Sa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Medium-regular.fntdata"/><Relationship Id="rId30" Type="http://schemas.openxmlformats.org/officeDocument/2006/relationships/font" Target="fonts/Sora-bold.fntdata"/><Relationship Id="rId33" Type="http://schemas.openxmlformats.org/officeDocument/2006/relationships/font" Target="fonts/IBMPlexSansSemiBold-regular.fntdata"/><Relationship Id="rId32" Type="http://schemas.openxmlformats.org/officeDocument/2006/relationships/font" Target="fonts/SoraMedium-bold.fntdata"/><Relationship Id="rId35" Type="http://schemas.openxmlformats.org/officeDocument/2006/relationships/font" Target="fonts/IBMPlexSansSemiBold-italic.fntdata"/><Relationship Id="rId34" Type="http://schemas.openxmlformats.org/officeDocument/2006/relationships/font" Target="fonts/IBMPlexSansSemiBold-bold.fntdata"/><Relationship Id="rId36" Type="http://schemas.openxmlformats.org/officeDocument/2006/relationships/font" Target="fonts/IBMPlexSansSemiBold-boldItalic.fntdata"/><Relationship Id="rId20" Type="http://schemas.openxmlformats.org/officeDocument/2006/relationships/font" Target="fonts/SoraSemiBold-bold.fntdata"/><Relationship Id="rId22" Type="http://schemas.openxmlformats.org/officeDocument/2006/relationships/font" Target="fonts/IBMPlexSansMedium-bold.fntdata"/><Relationship Id="rId21" Type="http://schemas.openxmlformats.org/officeDocument/2006/relationships/font" Target="fonts/IBMPlexSansMedium-regular.fntdata"/><Relationship Id="rId24" Type="http://schemas.openxmlformats.org/officeDocument/2006/relationships/font" Target="fonts/IBMPlexSansMedium-boldItalic.fntdata"/><Relationship Id="rId23" Type="http://schemas.openxmlformats.org/officeDocument/2006/relationships/font" Target="fonts/IBMPlexSansMedium-italic.fntdata"/><Relationship Id="rId26" Type="http://schemas.openxmlformats.org/officeDocument/2006/relationships/font" Target="fonts/SoraLight-bold.fntdata"/><Relationship Id="rId25" Type="http://schemas.openxmlformats.org/officeDocument/2006/relationships/font" Target="fonts/SoraLight-regular.fntdata"/><Relationship Id="rId28" Type="http://schemas.openxmlformats.org/officeDocument/2006/relationships/font" Target="fonts/SoraExtraLight-bold.fntdata"/><Relationship Id="rId27" Type="http://schemas.openxmlformats.org/officeDocument/2006/relationships/font" Target="fonts/SoraExtraLight-regular.fntdata"/><Relationship Id="rId29" Type="http://schemas.openxmlformats.org/officeDocument/2006/relationships/font" Target="fonts/Sor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BMPlexSans-regular.fntdata"/><Relationship Id="rId14" Type="http://schemas.openxmlformats.org/officeDocument/2006/relationships/slide" Target="slides/slide8.xml"/><Relationship Id="rId17" Type="http://schemas.openxmlformats.org/officeDocument/2006/relationships/font" Target="fonts/IBMPlexSans-italic.fntdata"/><Relationship Id="rId16" Type="http://schemas.openxmlformats.org/officeDocument/2006/relationships/font" Target="fonts/IBMPlexSans-bold.fntdata"/><Relationship Id="rId19" Type="http://schemas.openxmlformats.org/officeDocument/2006/relationships/font" Target="fonts/SoraSemiBold-regular.fntdata"/><Relationship Id="rId18" Type="http://schemas.openxmlformats.org/officeDocument/2006/relationships/font" Target="fonts/IBMPlex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70f2a241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70f2a241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6-7 minute 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1-2 minutes of Q/A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2-3 minutes for slide deck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2-3 minutes for live demo of Streamlit application and explantation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70f2a24142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70f2a24142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70f2a24142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70f2a24142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70f2a24142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70f2a24142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70f2a24142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70f2a24142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710568b0d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710568b0d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713c131a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713c131a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710568b0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710568b0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ortablepredictions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Mahek Patel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Joe Bryant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Nathan Deering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138475" y="2416063"/>
            <a:ext cx="5876700" cy="254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Portable Predictions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Learning Housing Prices Across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Diverse Markets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DATA 780 - FINAL PROJECT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41" name="Google Shape;941;p6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42" name="Google Shape;942;p64"/>
          <p:cNvSpPr txBox="1"/>
          <p:nvPr>
            <p:ph type="title"/>
          </p:nvPr>
        </p:nvSpPr>
        <p:spPr>
          <a:xfrm>
            <a:off x="175200" y="73267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Motivation</a:t>
            </a:r>
            <a:endParaRPr/>
          </a:p>
        </p:txBody>
      </p:sp>
      <p:sp>
        <p:nvSpPr>
          <p:cNvPr id="943" name="Google Shape;943;p64"/>
          <p:cNvSpPr txBox="1"/>
          <p:nvPr>
            <p:ph idx="1" type="subTitle"/>
          </p:nvPr>
        </p:nvSpPr>
        <p:spPr>
          <a:xfrm>
            <a:off x="175200" y="1421775"/>
            <a:ext cx="6835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Why It Matters:</a:t>
            </a:r>
            <a:endParaRPr b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Informs affordability, mortgage risk, investment decisions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Supports planners, lenders, real estate professionals, and policymakers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/>
              <a:t>Key Problems We Aim to Solve:</a:t>
            </a:r>
            <a:endParaRPr b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 to predict housing prices accurately at a granular, local level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Which local/contextual features truly drive housing prices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Why models fail to generalize to new regions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How to make models more transparent and interpretable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49" name="Google Shape;949;p6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50" name="Google Shape;950;p65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in Current Models</a:t>
            </a:r>
            <a:endParaRPr/>
          </a:p>
        </p:txBody>
      </p:sp>
      <p:sp>
        <p:nvSpPr>
          <p:cNvPr id="951" name="Google Shape;951;p65"/>
          <p:cNvSpPr txBox="1"/>
          <p:nvPr>
            <p:ph idx="1" type="subTitle"/>
          </p:nvPr>
        </p:nvSpPr>
        <p:spPr>
          <a:xfrm>
            <a:off x="175200" y="1407925"/>
            <a:ext cx="68358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What’s Missing from Existing Approaches</a:t>
            </a:r>
            <a:endParaRPr b="1"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Rely on data from a single city or region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Excludes key neighborhood level factors (crime, schools, zoning, etc.)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Are vulnerable to residual bias and low R²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Perform poorly when applied outside of training data areas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57" name="Google Shape;957;p6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58" name="Google Shape;958;p66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959" name="Google Shape;959;p66"/>
          <p:cNvSpPr txBox="1"/>
          <p:nvPr>
            <p:ph idx="1" type="subTitle"/>
          </p:nvPr>
        </p:nvSpPr>
        <p:spPr>
          <a:xfrm>
            <a:off x="175200" y="1407925"/>
            <a:ext cx="68358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Boost prediction accuracy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Improve generalizability across regions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transparency and trustworthiness of homing prices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65" name="Google Shape;965;p6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66" name="Google Shape;966;p67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 &amp; Methods</a:t>
            </a:r>
            <a:endParaRPr/>
          </a:p>
        </p:txBody>
      </p:sp>
      <p:sp>
        <p:nvSpPr>
          <p:cNvPr id="967" name="Google Shape;967;p67"/>
          <p:cNvSpPr txBox="1"/>
          <p:nvPr>
            <p:ph idx="1" type="subTitle"/>
          </p:nvPr>
        </p:nvSpPr>
        <p:spPr>
          <a:xfrm>
            <a:off x="175200" y="1407925"/>
            <a:ext cx="68358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Census ACS PUMS </a:t>
            </a:r>
            <a:r>
              <a:rPr lang="en" sz="1800"/>
              <a:t>combined</a:t>
            </a:r>
            <a:r>
              <a:rPr lang="en" sz="1800"/>
              <a:t> with ZIP/PUMA crosswalks for better geographical features</a:t>
            </a:r>
            <a:endParaRPr b="1" sz="1800">
              <a:highlight>
                <a:srgbClr val="00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Data is stored in a view sent from a few Python scripts to a PostgreSQL instance deployed on Heroku.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Models: Linear regression, Ridge, Random Forest, XGBoost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SHAP to interpret and explain feature influence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73" name="Google Shape;973;p6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74" name="Google Shape;974;p68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975" name="Google Shape;975;p68"/>
          <p:cNvSpPr txBox="1"/>
          <p:nvPr>
            <p:ph idx="1" type="subTitle"/>
          </p:nvPr>
        </p:nvSpPr>
        <p:spPr>
          <a:xfrm>
            <a:off x="175200" y="1407925"/>
            <a:ext cx="71907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Ensemble models (Random Forest and XGBoost) </a:t>
            </a:r>
            <a:r>
              <a:rPr lang="en" sz="1800"/>
              <a:t>outperform</a:t>
            </a:r>
            <a:r>
              <a:rPr lang="en" sz="1800"/>
              <a:t> linear counterparts (Linear and Ridge)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SHAP Interpretability - Feature Importance</a:t>
            </a:r>
            <a:endParaRPr sz="18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Top Features - Household Income and Income to Value Ratio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Less Impactful Features - Number of Bedrooms and Safety Score</a:t>
            </a:r>
            <a:endParaRPr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81" name="Google Shape;981;p6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82" name="Google Shape;982;p69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</a:t>
            </a:r>
            <a:endParaRPr/>
          </a:p>
        </p:txBody>
      </p:sp>
      <p:pic>
        <p:nvPicPr>
          <p:cNvPr id="983" name="Google Shape;9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300" y="1407925"/>
            <a:ext cx="6302802" cy="249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780 - FINAL PROJECT</a:t>
            </a:r>
            <a:endParaRPr/>
          </a:p>
        </p:txBody>
      </p:sp>
      <p:sp>
        <p:nvSpPr>
          <p:cNvPr id="989" name="Google Shape;989;p7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PORTABLE PREDICTIONS</a:t>
            </a:r>
            <a:endParaRPr/>
          </a:p>
        </p:txBody>
      </p:sp>
      <p:sp>
        <p:nvSpPr>
          <p:cNvPr id="990" name="Google Shape;990;p70"/>
          <p:cNvSpPr txBox="1"/>
          <p:nvPr>
            <p:ph type="title"/>
          </p:nvPr>
        </p:nvSpPr>
        <p:spPr>
          <a:xfrm>
            <a:off x="175200" y="718825"/>
            <a:ext cx="65070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991" name="Google Shape;991;p70"/>
          <p:cNvSpPr txBox="1"/>
          <p:nvPr>
            <p:ph idx="1" type="subTitle"/>
          </p:nvPr>
        </p:nvSpPr>
        <p:spPr>
          <a:xfrm>
            <a:off x="175200" y="1407925"/>
            <a:ext cx="6835800" cy="27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Portable Predictions Streamlit Dashboard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https://portablepredictions.streamlit.app/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